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C9703D"/>
                </a:solidFill>
              </a:rPr>
              <a:t>BUSINESS MODEL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022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Free for travelers. Aligned revenue around them.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10881360" cy="658368"/>
          </a:xfrm>
          <a:prstGeom prst="roundRect">
            <a:avLst>
              <a:gd name="adj" fmla="val 13889"/>
            </a:avLst>
          </a:prstGeom>
          <a:solidFill>
            <a:srgbClr val="DCE8E0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700784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976" y="1783080"/>
            <a:ext cx="219456" cy="2194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627632"/>
            <a:ext cx="9875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16352D"/>
                </a:solidFill>
              </a:rPr>
              <a:t>The core fairness check is always free  </a:t>
            </a:r>
            <a:pPr indent="0" marL="0">
              <a:lnSpc>
                <a:spcPts val="1600"/>
              </a:lnSpc>
              <a:buNone/>
            </a:pPr>
            <a:r>
              <a:rPr lang="en-US" sz="1350" dirty="0">
                <a:solidFill>
                  <a:srgbClr val="16352D"/>
                </a:solidFill>
              </a:rPr>
              <a:t>— it's what builds trust. Sherah earns money around the traveler, never by charging them to know they're being treated fairly.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40080" y="245059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B5E52"/>
                </a:solidFill>
              </a:rPr>
              <a:t>LAUNCH NOW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482803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9703D"/>
                </a:solidFill>
              </a:rPr>
              <a:t>FUTURE STREAMS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40080" y="2798064"/>
            <a:ext cx="2670048" cy="1874520"/>
          </a:xfrm>
          <a:prstGeom prst="roundRect">
            <a:avLst>
              <a:gd name="adj" fmla="val 5854"/>
            </a:avLst>
          </a:prstGeom>
          <a:solidFill>
            <a:srgbClr val="FFFCF6"/>
          </a:solidFill>
          <a:ln/>
          <a:effectLst>
            <a:outerShdw sx="100000" sy="100000" kx="0" ky="0" algn="bl" rotWithShape="0" blurRad="114300" dist="38100" dir="5400000">
              <a:srgbClr val="16352D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96112" y="3035808"/>
            <a:ext cx="512064" cy="512064"/>
          </a:xfrm>
          <a:prstGeom prst="ellipse">
            <a:avLst/>
          </a:prstGeom>
          <a:solidFill>
            <a:srgbClr val="2B5E52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" y="3154680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896112" y="3639312"/>
            <a:ext cx="2212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400" b="1" dirty="0">
                <a:solidFill>
                  <a:srgbClr val="2022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Affiliate commission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896112" y="4023360"/>
            <a:ext cx="22128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5B4D"/>
                </a:solidFill>
              </a:rPr>
              <a:t>Paid when a confirmed-fair fare is booked — paid for fairness, not for pushing a sale.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3557016" y="2798064"/>
            <a:ext cx="2670048" cy="1874520"/>
          </a:xfrm>
          <a:prstGeom prst="roundRect">
            <a:avLst>
              <a:gd name="adj" fmla="val 5854"/>
            </a:avLst>
          </a:prstGeom>
          <a:solidFill>
            <a:srgbClr val="FFFCF6"/>
          </a:solidFill>
          <a:ln/>
          <a:effectLst>
            <a:outerShdw sx="100000" sy="100000" kx="0" ky="0" algn="bl" rotWithShape="0" blurRad="114300" dist="38100" dir="5400000">
              <a:srgbClr val="16352D">
                <a:alpha val="16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3813048" y="3035808"/>
            <a:ext cx="512064" cy="512064"/>
          </a:xfrm>
          <a:prstGeom prst="ellipse">
            <a:avLst/>
          </a:prstGeom>
          <a:solidFill>
            <a:srgbClr val="2B5E52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1920" y="3154680"/>
            <a:ext cx="274320" cy="2743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3813048" y="3639312"/>
            <a:ext cx="2212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400" b="1" dirty="0">
                <a:solidFill>
                  <a:srgbClr val="2022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Visa &amp; entry docs (الفيزا)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3813048" y="4023360"/>
            <a:ext cx="22128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5B4D"/>
                </a:solidFill>
              </a:rPr>
              <a:t>Referral fee from a visa-processing partner, triggered by route + nationality data.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6473952" y="2798064"/>
            <a:ext cx="2670048" cy="1874520"/>
          </a:xfrm>
          <a:prstGeom prst="roundRect">
            <a:avLst>
              <a:gd name="adj" fmla="val 5854"/>
            </a:avLst>
          </a:prstGeom>
          <a:solidFill>
            <a:srgbClr val="FFFCF6"/>
          </a:solidFill>
          <a:ln/>
          <a:effectLst>
            <a:outerShdw sx="100000" sy="100000" kx="0" ky="0" algn="bl" rotWithShape="0" blurRad="114300" dist="38100" dir="5400000">
              <a:srgbClr val="16352D">
                <a:alpha val="16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729984" y="3035808"/>
            <a:ext cx="512064" cy="512064"/>
          </a:xfrm>
          <a:prstGeom prst="ellipse">
            <a:avLst/>
          </a:prstGeom>
          <a:solidFill>
            <a:srgbClr val="2B5E52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8856" y="3154680"/>
            <a:ext cx="274320" cy="27432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729984" y="3639312"/>
            <a:ext cx="2212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400" b="1" dirty="0">
                <a:solidFill>
                  <a:srgbClr val="2022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Travel insurance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6729984" y="4023360"/>
            <a:ext cx="22128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5B4D"/>
                </a:solidFill>
              </a:rPr>
              <a:t>Commission on optional cover — answering 'what if something goes wrong?'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9390888" y="2798064"/>
            <a:ext cx="2670048" cy="1874520"/>
          </a:xfrm>
          <a:prstGeom prst="roundRect">
            <a:avLst>
              <a:gd name="adj" fmla="val 5854"/>
            </a:avLst>
          </a:prstGeom>
          <a:solidFill>
            <a:srgbClr val="FFFCF6"/>
          </a:solidFill>
          <a:ln/>
          <a:effectLst>
            <a:outerShdw sx="100000" sy="100000" kx="0" ky="0" algn="bl" rotWithShape="0" blurRad="114300" dist="38100" dir="5400000">
              <a:srgbClr val="16352D">
                <a:alpha val="16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9646920" y="3035808"/>
            <a:ext cx="512064" cy="512064"/>
          </a:xfrm>
          <a:prstGeom prst="ellipse">
            <a:avLst/>
          </a:prstGeom>
          <a:solidFill>
            <a:srgbClr val="2B5E52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65792" y="3154680"/>
            <a:ext cx="274320" cy="27432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9646920" y="3639312"/>
            <a:ext cx="2212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400" b="1" dirty="0">
                <a:solidFill>
                  <a:srgbClr val="2022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Freemium subscription</a:t>
            </a:r>
            <a:endParaRPr lang="en-US" sz="1400" dirty="0"/>
          </a:p>
        </p:txBody>
      </p:sp>
      <p:sp>
        <p:nvSpPr>
          <p:cNvPr id="29" name="Text 22"/>
          <p:cNvSpPr/>
          <p:nvPr/>
        </p:nvSpPr>
        <p:spPr>
          <a:xfrm>
            <a:off x="9646920" y="4023360"/>
            <a:ext cx="22128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5B4D"/>
                </a:solidFill>
              </a:rPr>
              <a:t>Small monthly fee for frequent flyers: unlimited checks &amp; saved trips.</a:t>
            </a:r>
            <a:endParaRPr lang="en-US" sz="1050" dirty="0"/>
          </a:p>
        </p:txBody>
      </p:sp>
      <p:sp>
        <p:nvSpPr>
          <p:cNvPr id="30" name="Shape 23"/>
          <p:cNvSpPr/>
          <p:nvPr/>
        </p:nvSpPr>
        <p:spPr>
          <a:xfrm>
            <a:off x="640080" y="5120640"/>
            <a:ext cx="3566160" cy="1371600"/>
          </a:xfrm>
          <a:prstGeom prst="roundRect">
            <a:avLst>
              <a:gd name="adj" fmla="val 8000"/>
            </a:avLst>
          </a:prstGeom>
          <a:solidFill>
            <a:srgbClr val="FFFCF6"/>
          </a:solidFill>
          <a:ln/>
          <a:effectLst>
            <a:outerShdw sx="100000" sy="100000" kx="0" ky="0" algn="bl" rotWithShape="0" blurRad="114300" dist="38100" dir="5400000">
              <a:srgbClr val="16352D">
                <a:alpha val="16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896112" y="5340096"/>
            <a:ext cx="475488" cy="475488"/>
          </a:xfrm>
          <a:prstGeom prst="ellipse">
            <a:avLst/>
          </a:prstGeom>
          <a:solidFill>
            <a:srgbClr val="C9703D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5840" y="5449824"/>
            <a:ext cx="256032" cy="256032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1508760" y="5340096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22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Rights-claim routing</a:t>
            </a:r>
            <a:endParaRPr lang="en-US" sz="1400" dirty="0"/>
          </a:p>
        </p:txBody>
      </p:sp>
      <p:sp>
        <p:nvSpPr>
          <p:cNvPr id="34" name="Text 26"/>
          <p:cNvSpPr/>
          <p:nvPr/>
        </p:nvSpPr>
        <p:spPr>
          <a:xfrm>
            <a:off x="896112" y="5907024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5B4D"/>
                </a:solidFill>
              </a:rPr>
              <a:t>Fee to route a compensation claim to a fulfillment partner.</a:t>
            </a:r>
            <a:endParaRPr lang="en-US" sz="1050" dirty="0"/>
          </a:p>
        </p:txBody>
      </p:sp>
      <p:sp>
        <p:nvSpPr>
          <p:cNvPr id="35" name="Shape 27"/>
          <p:cNvSpPr/>
          <p:nvPr/>
        </p:nvSpPr>
        <p:spPr>
          <a:xfrm>
            <a:off x="4480560" y="5120640"/>
            <a:ext cx="3566160" cy="1371600"/>
          </a:xfrm>
          <a:prstGeom prst="roundRect">
            <a:avLst>
              <a:gd name="adj" fmla="val 8000"/>
            </a:avLst>
          </a:prstGeom>
          <a:solidFill>
            <a:srgbClr val="FFFCF6"/>
          </a:solidFill>
          <a:ln/>
          <a:effectLst>
            <a:outerShdw sx="100000" sy="100000" kx="0" ky="0" algn="bl" rotWithShape="0" blurRad="114300" dist="38100" dir="5400000">
              <a:srgbClr val="16352D">
                <a:alpha val="16000"/>
              </a:srgbClr>
            </a:outerShdw>
          </a:effectLst>
        </p:spPr>
      </p:sp>
      <p:sp>
        <p:nvSpPr>
          <p:cNvPr id="36" name="Shape 28"/>
          <p:cNvSpPr/>
          <p:nvPr/>
        </p:nvSpPr>
        <p:spPr>
          <a:xfrm>
            <a:off x="4736592" y="5340096"/>
            <a:ext cx="475488" cy="475488"/>
          </a:xfrm>
          <a:prstGeom prst="ellipse">
            <a:avLst/>
          </a:prstGeom>
          <a:solidFill>
            <a:srgbClr val="C9703D"/>
          </a:solidFill>
          <a:ln/>
        </p:spPr>
      </p:sp>
      <p:pic>
        <p:nvPicPr>
          <p:cNvPr id="3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46320" y="5449824"/>
            <a:ext cx="256032" cy="256032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5349240" y="5340096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22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Ancillary add-ons</a:t>
            </a:r>
            <a:endParaRPr lang="en-US" sz="1400" dirty="0"/>
          </a:p>
        </p:txBody>
      </p:sp>
      <p:sp>
        <p:nvSpPr>
          <p:cNvPr id="39" name="Text 30"/>
          <p:cNvSpPr/>
          <p:nvPr/>
        </p:nvSpPr>
        <p:spPr>
          <a:xfrm>
            <a:off x="4736592" y="5907024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5B4D"/>
                </a:solidFill>
              </a:rPr>
              <a:t>Commission on eSIMs, transfers &amp; lounges, after booking.</a:t>
            </a:r>
            <a:endParaRPr lang="en-US" sz="1050" dirty="0"/>
          </a:p>
        </p:txBody>
      </p:sp>
      <p:sp>
        <p:nvSpPr>
          <p:cNvPr id="40" name="Shape 31"/>
          <p:cNvSpPr/>
          <p:nvPr/>
        </p:nvSpPr>
        <p:spPr>
          <a:xfrm>
            <a:off x="8321040" y="5120640"/>
            <a:ext cx="3566160" cy="1371600"/>
          </a:xfrm>
          <a:prstGeom prst="roundRect">
            <a:avLst>
              <a:gd name="adj" fmla="val 8000"/>
            </a:avLst>
          </a:prstGeom>
          <a:solidFill>
            <a:srgbClr val="FFFCF6"/>
          </a:solidFill>
          <a:ln/>
          <a:effectLst>
            <a:outerShdw sx="100000" sy="100000" kx="0" ky="0" algn="bl" rotWithShape="0" blurRad="114300" dist="38100" dir="5400000">
              <a:srgbClr val="16352D">
                <a:alpha val="16000"/>
              </a:srgbClr>
            </a:outerShdw>
          </a:effectLst>
        </p:spPr>
      </p:sp>
      <p:sp>
        <p:nvSpPr>
          <p:cNvPr id="41" name="Shape 32"/>
          <p:cNvSpPr/>
          <p:nvPr/>
        </p:nvSpPr>
        <p:spPr>
          <a:xfrm>
            <a:off x="8577072" y="5340096"/>
            <a:ext cx="475488" cy="475488"/>
          </a:xfrm>
          <a:prstGeom prst="ellipse">
            <a:avLst/>
          </a:prstGeom>
          <a:solidFill>
            <a:srgbClr val="C9703D"/>
          </a:solidFill>
          <a:ln/>
        </p:spPr>
      </p:sp>
      <p:pic>
        <p:nvPicPr>
          <p:cNvPr id="4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86800" y="5449824"/>
            <a:ext cx="256032" cy="256032"/>
          </a:xfrm>
          <a:prstGeom prst="rect">
            <a:avLst/>
          </a:prstGeom>
        </p:spPr>
      </p:pic>
      <p:sp>
        <p:nvSpPr>
          <p:cNvPr id="43" name="Text 33"/>
          <p:cNvSpPr/>
          <p:nvPr/>
        </p:nvSpPr>
        <p:spPr>
          <a:xfrm>
            <a:off x="9189720" y="5340096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22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B2B2C white-label</a:t>
            </a:r>
            <a:endParaRPr lang="en-US" sz="1400" dirty="0"/>
          </a:p>
        </p:txBody>
      </p:sp>
      <p:sp>
        <p:nvSpPr>
          <p:cNvPr id="44" name="Text 34"/>
          <p:cNvSpPr/>
          <p:nvPr/>
        </p:nvSpPr>
        <p:spPr>
          <a:xfrm>
            <a:off x="8577072" y="5907024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5B4D"/>
                </a:solidFill>
              </a:rPr>
              <a:t>Banks &amp; platforms pay to embed Sherah's fairness engine.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Sherah — Business Model</dc:title>
  <dc:subject>PptxGenJS Presentation</dc:subject>
  <dc:creator>Mona Al-Rozzi</dc:creator>
  <cp:lastModifiedBy>Mona Al-Rozzi</cp:lastModifiedBy>
  <cp:revision>1</cp:revision>
  <dcterms:created xsi:type="dcterms:W3CDTF">2026-06-24T05:20:05Z</dcterms:created>
  <dcterms:modified xsi:type="dcterms:W3CDTF">2026-06-24T05:20:05Z</dcterms:modified>
</cp:coreProperties>
</file>